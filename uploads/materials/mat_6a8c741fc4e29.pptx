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9" r:id="rId6"/>
    <p:sldId id="260" r:id="rId7"/>
    <p:sldId id="261" r:id="rId8"/>
    <p:sldId id="262" r:id="rId9"/>
    <p:sldId id="263" r:id="rId10"/>
    <p:sldId id="264" r:id="rId11"/>
    <p:sldId id="266" r:id="rId12"/>
    <p:sldId id="267" r:id="rId13"/>
  </p:sldIdLst>
  <p:sldSz cx="18288000" cy="10287000"/>
  <p:notesSz cx="6858000" cy="9144000"/>
  <p:embeddedFontLst>
    <p:embeddedFont>
      <p:font typeface="Calibri" panose="020F0502020204030204"/>
      <p:regular r:id="rId17"/>
      <p:bold r:id="rId18"/>
      <p:italic r:id="rId19"/>
      <p:boldItalic r:id="rId20"/>
    </p:embeddedFont>
    <p:embeddedFont>
      <p:font typeface="Nunito Sans Black"/>
      <p:bold r:id="rId21"/>
    </p:embeddedFont>
    <p:embeddedFont>
      <p:font typeface="Nunito Sans"/>
      <p:regular r:id="rId22"/>
      <p:bold r:id="rId23"/>
      <p:italic r:id="rId24"/>
      <p:boldItalic r:id="rId25"/>
    </p:embeddedFont>
    <p:embeddedFont>
      <p:font typeface="NSimSun" panose="02010609030101010101" charset="-122"/>
      <p:regular r:id="rId26"/>
    </p:embeddedFont>
    <p:embeddedFont>
      <p:font typeface="Microsoft YaHei" panose="020B0503020204020204" charset="-122"/>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44"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4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5" name="Google Shape;13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3" name="Google Shape;153;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Google Shape;170;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1" name="Google Shape;171;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9" name="Google Shape;189;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 name="Shape 205"/>
        <p:cNvGrpSpPr/>
        <p:nvPr/>
      </p:nvGrpSpPr>
      <p:grpSpPr>
        <a:xfrm>
          <a:off x="0" y="0"/>
          <a:ext cx="0" cy="0"/>
          <a:chOff x="0" y="0"/>
          <a:chExt cx="0" cy="0"/>
        </a:xfrm>
      </p:grpSpPr>
      <p:sp>
        <p:nvSpPr>
          <p:cNvPr id="206" name="Google Shape;206;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7" name="Google Shape;207;p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0" name="Google Shape;230;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6" name="Google Shape;266;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4" name="Google Shape;284;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18"/>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19"/>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19"/>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19"/>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21"/>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type="pic" idx="2"/>
          </p:nvPr>
        </p:nvSpPr>
        <p:spPr>
          <a:xfrm>
            <a:off x="1792288" y="612775"/>
            <a:ext cx="5486400" cy="4114800"/>
          </a:xfrm>
          <a:prstGeom prst="rect">
            <a:avLst/>
          </a:prstGeom>
          <a:noFill/>
          <a:ln>
            <a:noFill/>
          </a:ln>
        </p:spPr>
      </p:sp>
      <p:sp>
        <p:nvSpPr>
          <p:cNvPr id="64" name="Google Shape;64;p22"/>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2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2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grpSp>
        <p:nvGrpSpPr>
          <p:cNvPr id="84" name="Google Shape;84;p1"/>
          <p:cNvGrpSpPr/>
          <p:nvPr/>
        </p:nvGrpSpPr>
        <p:grpSpPr>
          <a:xfrm>
            <a:off x="0" y="-987551"/>
            <a:ext cx="18288000" cy="12262104"/>
            <a:chOff x="0" y="0"/>
            <a:chExt cx="24384000" cy="16349471"/>
          </a:xfrm>
        </p:grpSpPr>
        <p:sp>
          <p:nvSpPr>
            <p:cNvPr id="85" name="Google Shape;85;p1"/>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86" name="Google Shape;86;p1"/>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87" name="Google Shape;87;p1"/>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88" name="Google Shape;88;p1"/>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89" name="Google Shape;89;p1"/>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90" name="Google Shape;90;p1"/>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sp>
        <p:nvSpPr>
          <p:cNvPr id="91" name="Google Shape;91;p1"/>
          <p:cNvSpPr/>
          <p:nvPr/>
        </p:nvSpPr>
        <p:spPr>
          <a:xfrm flipH="1">
            <a:off x="0" y="8618398"/>
            <a:ext cx="5173960" cy="1668602"/>
          </a:xfrm>
          <a:custGeom>
            <a:avLst/>
            <a:gdLst/>
            <a:ahLst/>
            <a:cxnLst/>
            <a:rect l="l" t="t" r="r" b="b"/>
            <a:pathLst>
              <a:path w="5173960" h="1668602" extrusionOk="0">
                <a:moveTo>
                  <a:pt x="5173960" y="0"/>
                </a:moveTo>
                <a:lnTo>
                  <a:pt x="0" y="0"/>
                </a:lnTo>
                <a:lnTo>
                  <a:pt x="0" y="1668602"/>
                </a:lnTo>
                <a:lnTo>
                  <a:pt x="5173960" y="1668602"/>
                </a:lnTo>
                <a:lnTo>
                  <a:pt x="5173960" y="0"/>
                </a:lnTo>
                <a:close/>
              </a:path>
            </a:pathLst>
          </a:custGeom>
          <a:blipFill rotWithShape="1">
            <a:blip r:embed="rId2"/>
            <a:stretch>
              <a:fillRect/>
            </a:stretch>
          </a:blipFill>
          <a:ln>
            <a:noFill/>
          </a:ln>
        </p:spPr>
      </p:sp>
      <p:sp>
        <p:nvSpPr>
          <p:cNvPr id="92" name="Google Shape;92;p1"/>
          <p:cNvSpPr/>
          <p:nvPr/>
        </p:nvSpPr>
        <p:spPr>
          <a:xfrm rot="10800000" flipH="1">
            <a:off x="13114040" y="0"/>
            <a:ext cx="5173960" cy="1668602"/>
          </a:xfrm>
          <a:custGeom>
            <a:avLst/>
            <a:gdLst/>
            <a:ahLst/>
            <a:cxnLst/>
            <a:rect l="l" t="t" r="r" b="b"/>
            <a:pathLst>
              <a:path w="5173960" h="1668602" extrusionOk="0">
                <a:moveTo>
                  <a:pt x="0" y="1668602"/>
                </a:moveTo>
                <a:lnTo>
                  <a:pt x="5173960" y="1668602"/>
                </a:lnTo>
                <a:lnTo>
                  <a:pt x="5173960" y="0"/>
                </a:lnTo>
                <a:lnTo>
                  <a:pt x="0" y="0"/>
                </a:lnTo>
                <a:lnTo>
                  <a:pt x="0" y="1668602"/>
                </a:lnTo>
                <a:close/>
              </a:path>
            </a:pathLst>
          </a:custGeom>
          <a:blipFill rotWithShape="1">
            <a:blip r:embed="rId2"/>
            <a:stretch>
              <a:fillRect/>
            </a:stretch>
          </a:blipFill>
          <a:ln>
            <a:noFill/>
          </a:ln>
        </p:spPr>
      </p:sp>
      <p:sp>
        <p:nvSpPr>
          <p:cNvPr id="93" name="Google Shape;93;p1"/>
          <p:cNvSpPr/>
          <p:nvPr/>
        </p:nvSpPr>
        <p:spPr>
          <a:xfrm>
            <a:off x="8348345" y="474980"/>
            <a:ext cx="1590675" cy="1344930"/>
          </a:xfrm>
          <a:custGeom>
            <a:avLst/>
            <a:gdLst/>
            <a:ahLst/>
            <a:cxnLst/>
            <a:rect l="l" t="t" r="r" b="b"/>
            <a:pathLst>
              <a:path w="1590824" h="1137481" extrusionOk="0">
                <a:moveTo>
                  <a:pt x="0" y="0"/>
                </a:moveTo>
                <a:lnTo>
                  <a:pt x="1590824" y="0"/>
                </a:lnTo>
                <a:lnTo>
                  <a:pt x="1590824" y="1137481"/>
                </a:lnTo>
                <a:lnTo>
                  <a:pt x="0" y="1137481"/>
                </a:lnTo>
                <a:lnTo>
                  <a:pt x="0" y="0"/>
                </a:lnTo>
                <a:close/>
              </a:path>
            </a:pathLst>
          </a:custGeom>
          <a:blipFill rotWithShape="1">
            <a:blip r:embed="rId3"/>
            <a:stretch>
              <a:fillRect/>
            </a:stretch>
          </a:blipFill>
          <a:ln>
            <a:noFill/>
          </a:ln>
        </p:spPr>
      </p:sp>
      <p:sp>
        <p:nvSpPr>
          <p:cNvPr id="94" name="Google Shape;94;p1"/>
          <p:cNvSpPr txBox="1"/>
          <p:nvPr/>
        </p:nvSpPr>
        <p:spPr>
          <a:xfrm>
            <a:off x="2586990" y="3307715"/>
            <a:ext cx="13114020" cy="214566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PH" altLang="en-US" sz="4400" dirty="0">
                <a:solidFill>
                  <a:srgbClr val="0B784E"/>
                </a:solidFill>
                <a:latin typeface="Nunito Sans Black"/>
                <a:ea typeface="Nunito Sans Black"/>
                <a:cs typeface="Nunito Sans Black"/>
                <a:sym typeface="Nunito Sans Black"/>
              </a:rPr>
              <a:t>B</a:t>
            </a:r>
            <a:r>
              <a:rPr lang="en-US" altLang="en-US" sz="4400" dirty="0">
                <a:solidFill>
                  <a:srgbClr val="0B784E"/>
                </a:solidFill>
                <a:latin typeface="Nunito Sans Black"/>
                <a:ea typeface="Nunito Sans Black"/>
                <a:cs typeface="Nunito Sans Black"/>
                <a:sym typeface="Nunito Sans Black"/>
              </a:rPr>
              <a:t>lended Learning System with </a:t>
            </a:r>
            <a:endParaRPr lang="en-US" altLang="en-US" sz="4400" dirty="0">
              <a:solidFill>
                <a:srgbClr val="0B784E"/>
              </a:solidFill>
              <a:latin typeface="Nunito Sans Black"/>
              <a:ea typeface="Nunito Sans Black"/>
              <a:cs typeface="Nunito Sans Black"/>
              <a:sym typeface="Nunito Sans Black"/>
            </a:endParaRPr>
          </a:p>
          <a:p>
            <a:pPr marL="0" marR="0" lvl="0" indent="0" algn="ctr" rtl="0">
              <a:lnSpc>
                <a:spcPct val="140000"/>
              </a:lnSpc>
              <a:spcBef>
                <a:spcPts val="0"/>
              </a:spcBef>
              <a:spcAft>
                <a:spcPts val="0"/>
              </a:spcAft>
              <a:buNone/>
            </a:pPr>
            <a:r>
              <a:rPr lang="en-US" altLang="en-US" sz="4400" dirty="0">
                <a:solidFill>
                  <a:srgbClr val="0B784E"/>
                </a:solidFill>
                <a:latin typeface="Nunito Sans Black"/>
                <a:ea typeface="Nunito Sans Black"/>
                <a:cs typeface="Nunito Sans Black"/>
                <a:sym typeface="Nunito Sans Black"/>
              </a:rPr>
              <a:t>Syllabus Mapping</a:t>
            </a:r>
            <a:endParaRPr lang="en-US" altLang="en-US" sz="4400" dirty="0">
              <a:solidFill>
                <a:srgbClr val="0B784E"/>
              </a:solidFill>
              <a:latin typeface="Nunito Sans Black"/>
              <a:ea typeface="Nunito Sans Black"/>
              <a:cs typeface="Nunito Sans Black"/>
              <a:sym typeface="Nunito Sans Black"/>
            </a:endParaRPr>
          </a:p>
          <a:p>
            <a:pPr marL="0" marR="0" lvl="0" indent="0" algn="ctr" rtl="0">
              <a:lnSpc>
                <a:spcPct val="140000"/>
              </a:lnSpc>
              <a:spcBef>
                <a:spcPts val="0"/>
              </a:spcBef>
              <a:spcAft>
                <a:spcPts val="0"/>
              </a:spcAft>
              <a:buNone/>
            </a:pPr>
            <a:endParaRPr lang="en-US" sz="4400" b="0" i="0" u="none" strike="noStrike" cap="none">
              <a:solidFill>
                <a:srgbClr val="0B784E"/>
              </a:solidFill>
              <a:latin typeface="Nunito Sans Black"/>
              <a:ea typeface="Nunito Sans Black"/>
              <a:cs typeface="Nunito Sans Black"/>
              <a:sym typeface="Nunito Sans Black"/>
            </a:endParaRPr>
          </a:p>
        </p:txBody>
      </p:sp>
      <p:sp>
        <p:nvSpPr>
          <p:cNvPr id="95" name="Google Shape;95;p1"/>
          <p:cNvSpPr txBox="1"/>
          <p:nvPr/>
        </p:nvSpPr>
        <p:spPr>
          <a:xfrm>
            <a:off x="6605905" y="5454015"/>
            <a:ext cx="7599045" cy="4062730"/>
          </a:xfrm>
          <a:prstGeom prst="rect">
            <a:avLst/>
          </a:prstGeom>
          <a:noFill/>
          <a:ln>
            <a:noFill/>
          </a:ln>
        </p:spPr>
        <p:txBody>
          <a:bodyPr spcFirstLastPara="1" wrap="square" lIns="0" tIns="0" rIns="0" bIns="0" anchor="t" anchorCtr="0">
            <a:noAutofit/>
          </a:bodyPr>
          <a:lstStyle/>
          <a:p>
            <a:pPr algn="l">
              <a:lnSpc>
                <a:spcPts val="6720"/>
              </a:lnSpc>
            </a:pPr>
            <a:r>
              <a:rPr lang="en-US" altLang="en-US" sz="4000" b="1" spc="-11" dirty="0">
                <a:latin typeface="Nunito Sans"/>
                <a:ea typeface="Nunito Sans"/>
                <a:cs typeface="Nunito Sans"/>
                <a:sym typeface="Nunito Sans"/>
              </a:rPr>
              <a:t>Cristian Felix Demateo</a:t>
            </a:r>
            <a:endParaRPr lang="en-US" altLang="en-US" sz="4000" b="1" spc="-11" dirty="0">
              <a:solidFill>
                <a:srgbClr val="000000"/>
              </a:solidFill>
              <a:latin typeface="Nunito Sans"/>
              <a:ea typeface="Nunito Sans"/>
              <a:cs typeface="Nunito Sans"/>
              <a:sym typeface="Nunito Sans"/>
            </a:endParaRPr>
          </a:p>
          <a:p>
            <a:pPr algn="l">
              <a:lnSpc>
                <a:spcPts val="6720"/>
              </a:lnSpc>
            </a:pPr>
            <a:r>
              <a:rPr lang="en-US" altLang="en-US" sz="4000" b="1" spc="-11" dirty="0">
                <a:latin typeface="Nunito Sans"/>
                <a:ea typeface="Nunito Sans"/>
                <a:cs typeface="Nunito Sans"/>
                <a:sym typeface="Nunito Sans"/>
              </a:rPr>
              <a:t> Emmanuelle Margaux Nomat</a:t>
            </a:r>
            <a:endParaRPr lang="en-US" altLang="en-US" sz="4000" b="1" spc="-11" dirty="0">
              <a:solidFill>
                <a:srgbClr val="000000"/>
              </a:solidFill>
              <a:latin typeface="Nunito Sans"/>
              <a:ea typeface="Nunito Sans"/>
              <a:cs typeface="Nunito Sans"/>
              <a:sym typeface="Nunito Sans"/>
            </a:endParaRPr>
          </a:p>
          <a:p>
            <a:pPr algn="l">
              <a:lnSpc>
                <a:spcPts val="6720"/>
              </a:lnSpc>
            </a:pPr>
            <a:r>
              <a:rPr lang="en-US" altLang="en-US" sz="4000" b="1" spc="-11" dirty="0">
                <a:latin typeface="Nunito Sans"/>
                <a:ea typeface="Nunito Sans"/>
                <a:cs typeface="Nunito Sans"/>
                <a:sym typeface="Nunito Sans"/>
              </a:rPr>
              <a:t> Justine joy Deniola</a:t>
            </a:r>
            <a:endParaRPr lang="en-US" altLang="en-US" sz="4000" b="1" spc="-11" dirty="0">
              <a:solidFill>
                <a:srgbClr val="000000"/>
              </a:solidFill>
              <a:latin typeface="Nunito Sans"/>
              <a:ea typeface="Nunito Sans"/>
              <a:cs typeface="Nunito Sans"/>
              <a:sym typeface="Nunito Sans"/>
            </a:endParaRPr>
          </a:p>
          <a:p>
            <a:pPr algn="l">
              <a:lnSpc>
                <a:spcPts val="6720"/>
              </a:lnSpc>
            </a:pPr>
            <a:r>
              <a:rPr lang="en-US" altLang="en-US" sz="4000" b="1" spc="-11" dirty="0">
                <a:latin typeface="Nunito Sans"/>
                <a:ea typeface="Nunito Sans"/>
                <a:cs typeface="Nunito Sans"/>
                <a:sym typeface="Nunito Sans"/>
              </a:rPr>
              <a:t>Sherry lou Belanio</a:t>
            </a:r>
            <a:endParaRPr lang="en-US" sz="4000" b="1" i="0" u="none" strike="noStrike" cap="none">
              <a:solidFill>
                <a:srgbClr val="000000"/>
              </a:solidFill>
              <a:latin typeface="Nunito Sans"/>
              <a:ea typeface="Nunito Sans"/>
              <a:cs typeface="Nunito Sans"/>
              <a:sym typeface="Nunito Sans"/>
            </a:endParaRPr>
          </a:p>
        </p:txBody>
      </p:sp>
      <p:sp>
        <p:nvSpPr>
          <p:cNvPr id="96" name="Google Shape;96;p1"/>
          <p:cNvSpPr txBox="1"/>
          <p:nvPr/>
        </p:nvSpPr>
        <p:spPr>
          <a:xfrm>
            <a:off x="5173980" y="2075815"/>
            <a:ext cx="7940040" cy="146875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4500" b="1" i="0" u="none" strike="noStrike" cap="none">
                <a:solidFill>
                  <a:srgbClr val="000000"/>
                </a:solidFill>
                <a:latin typeface="Nunito Sans"/>
                <a:ea typeface="Nunito Sans"/>
                <a:cs typeface="Nunito Sans"/>
                <a:sym typeface="Nunito Sans"/>
              </a:rPr>
              <a:t>I-Tech College Bago City, Inc</a:t>
            </a:r>
            <a:endParaRPr lang="en-US" sz="45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grpSp>
        <p:nvGrpSpPr>
          <p:cNvPr id="101" name="Google Shape;101;p2"/>
          <p:cNvGrpSpPr/>
          <p:nvPr/>
        </p:nvGrpSpPr>
        <p:grpSpPr>
          <a:xfrm>
            <a:off x="-17145" y="-1058671"/>
            <a:ext cx="18288000" cy="12262104"/>
            <a:chOff x="0" y="0"/>
            <a:chExt cx="24384000" cy="16349471"/>
          </a:xfrm>
        </p:grpSpPr>
        <p:sp>
          <p:nvSpPr>
            <p:cNvPr id="102" name="Google Shape;102;p2"/>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03" name="Google Shape;103;p2"/>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04" name="Google Shape;104;p2"/>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05" name="Google Shape;105;p2"/>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06" name="Google Shape;106;p2"/>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107" name="Google Shape;107;p2"/>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108" name="Google Shape;108;p2"/>
          <p:cNvGrpSpPr/>
          <p:nvPr/>
        </p:nvGrpSpPr>
        <p:grpSpPr>
          <a:xfrm>
            <a:off x="-2038330" y="-2073710"/>
            <a:ext cx="5041299" cy="5041299"/>
            <a:chOff x="0" y="0"/>
            <a:chExt cx="812800" cy="812800"/>
          </a:xfrm>
        </p:grpSpPr>
        <p:sp>
          <p:nvSpPr>
            <p:cNvPr id="109" name="Google Shape;109;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11" name="Google Shape;111;p2"/>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112" name="Google Shape;112;p2"/>
          <p:cNvSpPr txBox="1"/>
          <p:nvPr/>
        </p:nvSpPr>
        <p:spPr>
          <a:xfrm>
            <a:off x="411934" y="502681"/>
            <a:ext cx="1939447" cy="1377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01</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113" name="Google Shape;113;p2"/>
          <p:cNvSpPr txBox="1"/>
          <p:nvPr/>
        </p:nvSpPr>
        <p:spPr>
          <a:xfrm>
            <a:off x="4972685" y="878840"/>
            <a:ext cx="8342630" cy="175577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Introduction</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114" name="Google Shape;114;p2"/>
          <p:cNvSpPr txBox="1"/>
          <p:nvPr/>
        </p:nvSpPr>
        <p:spPr>
          <a:xfrm>
            <a:off x="1381760" y="3321050"/>
            <a:ext cx="15524480" cy="739775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Hybrid learning, which combines traditional face-to-face instruction with online learning, has become an essential approach in modern education as it supports diverse teaching and learning styles. However, instructors often rely on multiple tools to manage lessons, materials, and assessments, leading to issues such as inconsistent lesson tracking, misaligned course content, and difficulty in monitoring syllabus coverage. Students also face challenges in understanding how classroom and online activities connect to course requirements. To address these concerns, this study proposes a Blended Learning System with Syllabus Mapping that centralizes course components, tracks progress, and enhances organization, ultimately improving transparency, instructional effectiveness, and overall learning outcomes.</a:t>
            </a:r>
            <a:endParaRPr lang="en-US" sz="28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grpSp>
        <p:nvGrpSpPr>
          <p:cNvPr id="137" name="Google Shape;137;p4"/>
          <p:cNvGrpSpPr/>
          <p:nvPr/>
        </p:nvGrpSpPr>
        <p:grpSpPr>
          <a:xfrm>
            <a:off x="0" y="-987551"/>
            <a:ext cx="18288000" cy="12262104"/>
            <a:chOff x="0" y="0"/>
            <a:chExt cx="24384000" cy="16349471"/>
          </a:xfrm>
        </p:grpSpPr>
        <p:sp>
          <p:nvSpPr>
            <p:cNvPr id="138" name="Google Shape;138;p4"/>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39" name="Google Shape;139;p4"/>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40" name="Google Shape;140;p4"/>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41" name="Google Shape;141;p4"/>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42" name="Google Shape;142;p4"/>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143" name="Google Shape;143;p4"/>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144" name="Google Shape;144;p4"/>
          <p:cNvGrpSpPr/>
          <p:nvPr/>
        </p:nvGrpSpPr>
        <p:grpSpPr>
          <a:xfrm>
            <a:off x="-2038330" y="-2073710"/>
            <a:ext cx="5041299" cy="5041299"/>
            <a:chOff x="0" y="0"/>
            <a:chExt cx="812800" cy="812800"/>
          </a:xfrm>
        </p:grpSpPr>
        <p:sp>
          <p:nvSpPr>
            <p:cNvPr id="145" name="Google Shape;145;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47" name="Google Shape;147;p4"/>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148" name="Google Shape;148;p4"/>
          <p:cNvSpPr txBox="1"/>
          <p:nvPr/>
        </p:nvSpPr>
        <p:spPr>
          <a:xfrm>
            <a:off x="411934" y="502681"/>
            <a:ext cx="1939447" cy="1377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02</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149" name="Google Shape;149;p4"/>
          <p:cNvSpPr txBox="1"/>
          <p:nvPr/>
        </p:nvSpPr>
        <p:spPr>
          <a:xfrm>
            <a:off x="2351405" y="982345"/>
            <a:ext cx="14554835" cy="198437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Objectives of the Study</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150" name="Google Shape;150;p4"/>
          <p:cNvSpPr txBox="1"/>
          <p:nvPr/>
        </p:nvSpPr>
        <p:spPr>
          <a:xfrm>
            <a:off x="3499485" y="3353435"/>
            <a:ext cx="14314805" cy="665607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1. Develop a system that maps lessons, activities, and assessments</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directly to syllabus objectives.</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2. Provide instructors with tools to monitor lesson progress and</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syllabus coverage in a blended learning environment.</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3. Enable students to track their learning activities and understand</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their progress in the course.</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4. Improve lesson organization and reduce missed or duplicated topics</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in blended learning.</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5. Support effective teaching and learning through a centralized and</a:t>
            </a:r>
            <a:endParaRPr lang="en-US" altLang="en-US" sz="2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800" b="1" i="0" u="none" strike="noStrike" cap="none">
                <a:solidFill>
                  <a:srgbClr val="000000"/>
                </a:solidFill>
                <a:latin typeface="Nunito Sans"/>
                <a:ea typeface="Nunito Sans"/>
                <a:cs typeface="Nunito Sans"/>
                <a:sym typeface="Nunito Sans"/>
              </a:rPr>
              <a:t>organized learning system.</a:t>
            </a:r>
            <a:endParaRPr lang="en-US" sz="40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grpSp>
        <p:nvGrpSpPr>
          <p:cNvPr id="155" name="Google Shape;155;p5"/>
          <p:cNvGrpSpPr/>
          <p:nvPr/>
        </p:nvGrpSpPr>
        <p:grpSpPr>
          <a:xfrm>
            <a:off x="0" y="-987551"/>
            <a:ext cx="18288000" cy="12262104"/>
            <a:chOff x="0" y="0"/>
            <a:chExt cx="24384000" cy="16349471"/>
          </a:xfrm>
        </p:grpSpPr>
        <p:sp>
          <p:nvSpPr>
            <p:cNvPr id="156" name="Google Shape;156;p5"/>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57" name="Google Shape;157;p5"/>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58" name="Google Shape;158;p5"/>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59" name="Google Shape;159;p5"/>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60" name="Google Shape;160;p5"/>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161" name="Google Shape;161;p5"/>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162" name="Google Shape;162;p5"/>
          <p:cNvGrpSpPr/>
          <p:nvPr/>
        </p:nvGrpSpPr>
        <p:grpSpPr>
          <a:xfrm>
            <a:off x="-2038330" y="-2073710"/>
            <a:ext cx="5041299" cy="5041299"/>
            <a:chOff x="0" y="0"/>
            <a:chExt cx="812800" cy="812800"/>
          </a:xfrm>
        </p:grpSpPr>
        <p:sp>
          <p:nvSpPr>
            <p:cNvPr id="163" name="Google Shape;163;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65" name="Google Shape;165;p5"/>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166" name="Google Shape;166;p5"/>
          <p:cNvSpPr txBox="1"/>
          <p:nvPr/>
        </p:nvSpPr>
        <p:spPr>
          <a:xfrm>
            <a:off x="411934" y="502681"/>
            <a:ext cx="1939447" cy="1377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03</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167" name="Google Shape;167;p5"/>
          <p:cNvSpPr txBox="1"/>
          <p:nvPr/>
        </p:nvSpPr>
        <p:spPr>
          <a:xfrm>
            <a:off x="2351405" y="843915"/>
            <a:ext cx="14554835" cy="165163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Conceptual Framework</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168" name="Google Shape;168;p5"/>
          <p:cNvSpPr txBox="1"/>
          <p:nvPr/>
        </p:nvSpPr>
        <p:spPr>
          <a:xfrm>
            <a:off x="1381760" y="3084195"/>
            <a:ext cx="15524480" cy="689800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endParaRPr lang="en-US" sz="4000" b="0" i="0" u="none" strike="noStrike" cap="none">
              <a:solidFill>
                <a:srgbClr val="000000"/>
              </a:solidFill>
              <a:latin typeface="Nunito Sans"/>
              <a:ea typeface="Nunito Sans"/>
              <a:cs typeface="Nunito Sans"/>
              <a:sym typeface="Nunito Sans"/>
            </a:endParaRPr>
          </a:p>
        </p:txBody>
      </p:sp>
      <p:pic>
        <p:nvPicPr>
          <p:cNvPr id="3" name="Picture 2"/>
          <p:cNvPicPr>
            <a:picLocks noChangeAspect="1"/>
          </p:cNvPicPr>
          <p:nvPr/>
        </p:nvPicPr>
        <p:blipFill>
          <a:blip r:embed="rId3"/>
          <a:stretch>
            <a:fillRect/>
          </a:stretch>
        </p:blipFill>
        <p:spPr>
          <a:xfrm>
            <a:off x="3724275" y="2860675"/>
            <a:ext cx="11130915" cy="65944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grpSp>
        <p:nvGrpSpPr>
          <p:cNvPr id="173" name="Google Shape;173;p6"/>
          <p:cNvGrpSpPr/>
          <p:nvPr/>
        </p:nvGrpSpPr>
        <p:grpSpPr>
          <a:xfrm>
            <a:off x="0" y="-987551"/>
            <a:ext cx="18288000" cy="12262104"/>
            <a:chOff x="0" y="0"/>
            <a:chExt cx="24384000" cy="16349471"/>
          </a:xfrm>
        </p:grpSpPr>
        <p:sp>
          <p:nvSpPr>
            <p:cNvPr id="174" name="Google Shape;174;p6"/>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75" name="Google Shape;175;p6"/>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76" name="Google Shape;176;p6"/>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77" name="Google Shape;177;p6"/>
            <p:cNvSpPr/>
            <p:nvPr/>
          </p:nvSpPr>
          <p:spPr>
            <a:xfrm>
              <a:off x="12705080" y="5496560"/>
              <a:ext cx="10866120" cy="9304019"/>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txBody>
            <a:bodyPr/>
            <a:p>
              <a:pPr marL="0" marR="0" lvl="0" indent="0" algn="ctr" rtl="0">
                <a:lnSpc>
                  <a:spcPct val="140000"/>
                </a:lnSpc>
                <a:spcBef>
                  <a:spcPts val="0"/>
                </a:spcBef>
                <a:spcAft>
                  <a:spcPts val="0"/>
                </a:spcAft>
                <a:buNone/>
              </a:pPr>
              <a:r>
                <a:rPr lang="en-US" altLang="en-US" sz="2400" b="1">
                  <a:latin typeface="Nunito Sans"/>
                  <a:ea typeface="Nunito Sans"/>
                  <a:cs typeface="Nunito Sans"/>
                  <a:sym typeface="Nunito Sans"/>
                </a:rPr>
                <a:t>The study includes a limited number of participants (teachers and students), which may not represent other</a:t>
              </a:r>
              <a:r>
                <a:rPr lang="en-PH" altLang="en-US" sz="2400" b="1">
                  <a:latin typeface="Nunito Sans"/>
                  <a:ea typeface="Nunito Sans"/>
                  <a:cs typeface="Nunito Sans"/>
                  <a:sym typeface="Nunito Sans"/>
                </a:rPr>
                <a:t> </a:t>
              </a:r>
              <a:r>
                <a:rPr lang="en-US" altLang="en-US" sz="2400" b="1">
                  <a:latin typeface="Nunito Sans"/>
                  <a:ea typeface="Nunito Sans"/>
                  <a:cs typeface="Nunito Sans"/>
                  <a:sym typeface="Nunito Sans"/>
                </a:rPr>
                <a:t>institutions.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a:latin typeface="Nunito Sans"/>
                  <a:ea typeface="Nunito Sans"/>
                  <a:cs typeface="Nunito Sans"/>
                  <a:sym typeface="Nunito Sans"/>
                </a:rPr>
                <a:t>The research is conducted for one academic semester only, so long-term effects are not measured.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a:latin typeface="Nunito Sans"/>
                  <a:ea typeface="Nunito Sans"/>
                  <a:cs typeface="Nunito Sans"/>
                  <a:sym typeface="Nunito Sans"/>
                </a:rPr>
                <a:t>Data collection depends on participants’ availability and honesty, which may affect the results.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a:latin typeface="Nunito Sans"/>
                  <a:ea typeface="Nunito Sans"/>
                  <a:cs typeface="Nunito Sans"/>
                  <a:sym typeface="Nunito Sans"/>
                </a:rPr>
                <a:t>Technological factors such as internet access, device availability, and digital skills may influence system use.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a:latin typeface="Nunito Sans"/>
                  <a:ea typeface="Nunito Sans"/>
                  <a:cs typeface="Nunito Sans"/>
                  <a:sym typeface="Nunito Sans"/>
                </a:rPr>
                <a:t>Results may also be affected by response bias and external factors beyond the researchers’ control.</a:t>
              </a:r>
              <a:endParaRPr lang="en-US" sz="2400"/>
            </a:p>
          </p:txBody>
        </p:sp>
        <p:sp>
          <p:nvSpPr>
            <p:cNvPr id="178" name="Google Shape;178;p6"/>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179" name="Google Shape;179;p6"/>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180" name="Google Shape;180;p6"/>
          <p:cNvGrpSpPr/>
          <p:nvPr/>
        </p:nvGrpSpPr>
        <p:grpSpPr>
          <a:xfrm>
            <a:off x="-2038330" y="-2073710"/>
            <a:ext cx="5041299" cy="5041299"/>
            <a:chOff x="0" y="0"/>
            <a:chExt cx="812800" cy="812800"/>
          </a:xfrm>
        </p:grpSpPr>
        <p:sp>
          <p:nvSpPr>
            <p:cNvPr id="181" name="Google Shape;181;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83" name="Google Shape;183;p6"/>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184" name="Google Shape;184;p6"/>
          <p:cNvSpPr txBox="1"/>
          <p:nvPr/>
        </p:nvSpPr>
        <p:spPr>
          <a:xfrm>
            <a:off x="411934" y="502681"/>
            <a:ext cx="1939447" cy="1377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04</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185" name="Google Shape;185;p6"/>
          <p:cNvSpPr txBox="1"/>
          <p:nvPr/>
        </p:nvSpPr>
        <p:spPr>
          <a:xfrm>
            <a:off x="2351405" y="1148715"/>
            <a:ext cx="14554835" cy="161417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Scope and Limitations</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186" name="Google Shape;186;p6"/>
          <p:cNvSpPr txBox="1"/>
          <p:nvPr/>
        </p:nvSpPr>
        <p:spPr>
          <a:xfrm>
            <a:off x="130810" y="3134995"/>
            <a:ext cx="8642350" cy="7152005"/>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The study focuses on the implementation of a Blended Learning System with Syllabus Mapping in the teaching and learning process.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It examines how face-to-face and online learning combined with syllabus mapping help organize lessons and deliver course content effectively.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The study evaluates how the system aligns learning objectives, activities,</a:t>
            </a:r>
            <a:r>
              <a:rPr lang="en-US" altLang="en-US" sz="2400" b="1">
                <a:latin typeface="Nunito Sans"/>
                <a:ea typeface="Nunito Sans"/>
                <a:cs typeface="Nunito Sans"/>
                <a:sym typeface="Nunito Sans"/>
              </a:rPr>
              <a:t>and assessments.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Conducted at I-Tech College Inc., Bago City, involving teachers and students who use the blended learning system.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The research covers one academic semester. </a:t>
            </a:r>
            <a:endParaRPr lang="en-US" altLang="en-US" sz="2400" b="1" i="0" u="none" strike="noStrike" cap="none">
              <a:solidFill>
                <a:srgbClr val="000000"/>
              </a:solidFill>
              <a:latin typeface="Nunito Sans"/>
              <a:ea typeface="Nunito Sans"/>
              <a:cs typeface="Nunito Sans"/>
              <a:sym typeface="Nunito Sans"/>
            </a:endParaRPr>
          </a:p>
          <a:p>
            <a:pPr marL="0" marR="0" lvl="0" indent="0" algn="ctr"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Data are collected through surveys, interviews, and system evaluation using a descriptive research design.</a:t>
            </a:r>
            <a:endParaRPr lang="en-US" altLang="en-US" sz="24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90" name="Shape 190"/>
        <p:cNvGrpSpPr/>
        <p:nvPr/>
      </p:nvGrpSpPr>
      <p:grpSpPr>
        <a:xfrm>
          <a:off x="0" y="0"/>
          <a:ext cx="0" cy="0"/>
          <a:chOff x="0" y="0"/>
          <a:chExt cx="0" cy="0"/>
        </a:xfrm>
      </p:grpSpPr>
      <p:grpSp>
        <p:nvGrpSpPr>
          <p:cNvPr id="191" name="Google Shape;191;p7"/>
          <p:cNvGrpSpPr/>
          <p:nvPr/>
        </p:nvGrpSpPr>
        <p:grpSpPr>
          <a:xfrm>
            <a:off x="0" y="-987551"/>
            <a:ext cx="18288000" cy="12262104"/>
            <a:chOff x="0" y="0"/>
            <a:chExt cx="24384000" cy="16349471"/>
          </a:xfrm>
        </p:grpSpPr>
        <p:sp>
          <p:nvSpPr>
            <p:cNvPr id="192" name="Google Shape;192;p7"/>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93" name="Google Shape;193;p7"/>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94" name="Google Shape;194;p7"/>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95" name="Google Shape;195;p7"/>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196" name="Google Shape;196;p7"/>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197" name="Google Shape;197;p7"/>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198" name="Google Shape;198;p7"/>
          <p:cNvGrpSpPr/>
          <p:nvPr/>
        </p:nvGrpSpPr>
        <p:grpSpPr>
          <a:xfrm>
            <a:off x="-2038330" y="-2073710"/>
            <a:ext cx="5041299" cy="5041299"/>
            <a:chOff x="0" y="0"/>
            <a:chExt cx="812800" cy="812800"/>
          </a:xfrm>
        </p:grpSpPr>
        <p:sp>
          <p:nvSpPr>
            <p:cNvPr id="199" name="Google Shape;199;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01" name="Google Shape;201;p7"/>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202" name="Google Shape;202;p7"/>
          <p:cNvSpPr txBox="1"/>
          <p:nvPr/>
        </p:nvSpPr>
        <p:spPr>
          <a:xfrm>
            <a:off x="411934" y="502681"/>
            <a:ext cx="1939447" cy="1377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05</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203" name="Google Shape;203;p7"/>
          <p:cNvSpPr txBox="1"/>
          <p:nvPr/>
        </p:nvSpPr>
        <p:spPr>
          <a:xfrm>
            <a:off x="2351405" y="1052195"/>
            <a:ext cx="14554835" cy="20447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Significance of the Study</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204" name="Google Shape;204;p7"/>
          <p:cNvSpPr txBox="1"/>
          <p:nvPr/>
        </p:nvSpPr>
        <p:spPr>
          <a:xfrm>
            <a:off x="1839595" y="3265805"/>
            <a:ext cx="15066645" cy="6368415"/>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This study is significant to the following groups: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•Students – The system helps students clearly understand their lessons, activities, and progress, making it easier for them to follow course requirements in a blended learning setup.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•Instructors – The system assists instructors in organizing lessons, tracking syllabus coverage, and monitoring student progress more efficiently.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•Administrator – The system enables administrators to oversee lesson delivery, monitor program implementation, and ensure consistency across blended learning couses. </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endParaRPr lang="en-PH" altLang="en-US" sz="24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08" name="Shape 208"/>
        <p:cNvGrpSpPr/>
        <p:nvPr/>
      </p:nvGrpSpPr>
      <p:grpSpPr>
        <a:xfrm>
          <a:off x="0" y="0"/>
          <a:ext cx="0" cy="0"/>
          <a:chOff x="0" y="0"/>
          <a:chExt cx="0" cy="0"/>
        </a:xfrm>
      </p:grpSpPr>
      <p:grpSp>
        <p:nvGrpSpPr>
          <p:cNvPr id="209" name="Google Shape;209;p8"/>
          <p:cNvGrpSpPr/>
          <p:nvPr/>
        </p:nvGrpSpPr>
        <p:grpSpPr>
          <a:xfrm>
            <a:off x="0" y="-987551"/>
            <a:ext cx="18288000" cy="12226519"/>
            <a:chOff x="0" y="0"/>
            <a:chExt cx="24384000" cy="16302026"/>
          </a:xfrm>
        </p:grpSpPr>
        <p:sp>
          <p:nvSpPr>
            <p:cNvPr id="210" name="Google Shape;210;p8"/>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11" name="Google Shape;211;p8"/>
            <p:cNvSpPr/>
            <p:nvPr/>
          </p:nvSpPr>
          <p:spPr>
            <a:xfrm>
              <a:off x="549487" y="6156960"/>
              <a:ext cx="11847407" cy="7472680"/>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12" name="Google Shape;212;p8"/>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13" name="Google Shape;213;p8"/>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14" name="Google Shape;214;p8"/>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215" name="Google Shape;215;p8"/>
            <p:cNvSpPr/>
            <p:nvPr/>
          </p:nvSpPr>
          <p:spPr>
            <a:xfrm>
              <a:off x="13239327" y="5273887"/>
              <a:ext cx="10623127" cy="8938260"/>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txBody>
            <a:bodyPr/>
            <a:p>
              <a:r>
                <a:rPr lang="en-US" altLang="en-US" sz="2400" b="1">
                  <a:latin typeface="Arial" panose="020B0604020202020204" pitchFamily="34" charset="0"/>
                  <a:ea typeface="NSimSun" panose="02010609030101010101" charset="-122"/>
                  <a:cs typeface="Arial" panose="020B0604020202020204" pitchFamily="34" charset="0"/>
                </a:rPr>
                <a:t>International Prior Arts</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 Global LMS platforms such as Google</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Classroom, Canvas, Blackboard, Moodle, Brightspace, and Schoology are widely used in education.</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 These systems support online learning, communication, and assessment management.</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 Some platforms support Outcome-Based</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Education (OBE) features, but automatic syllabus-to-lesson alignment is not fully integrated.</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 Curriculum mapping tools like Atlas</a:t>
              </a:r>
              <a:endParaRPr lang="en-US" altLang="en-US" sz="2400" b="1">
                <a:latin typeface="Arial" panose="020B0604020202020204" pitchFamily="34" charset="0"/>
                <a:ea typeface="NSimSun" panose="02010609030101010101" charset="-122"/>
                <a:cs typeface="Arial" panose="020B0604020202020204" pitchFamily="34" charset="0"/>
              </a:endParaRPr>
            </a:p>
            <a:p>
              <a:r>
                <a:rPr lang="en-US" altLang="en-US" sz="2400" b="1">
                  <a:latin typeface="Arial" panose="020B0604020202020204" pitchFamily="34" charset="0"/>
                  <a:ea typeface="NSimSun" panose="02010609030101010101" charset="-122"/>
                  <a:cs typeface="Arial" panose="020B0604020202020204" pitchFamily="34" charset="0"/>
                </a:rPr>
                <a:t>Curriculum Mapping exist but are separate from LMS platforms.</a:t>
              </a:r>
              <a:endParaRPr lang="en-US" altLang="en-US" sz="2400" b="1">
                <a:latin typeface="Arial" panose="020B0604020202020204" pitchFamily="34" charset="0"/>
                <a:ea typeface="NSimSun" panose="02010609030101010101" charset="-122"/>
                <a:cs typeface="Arial" panose="020B0604020202020204" pitchFamily="34" charset="0"/>
              </a:endParaRPr>
            </a:p>
          </p:txBody>
        </p:sp>
      </p:grpSp>
      <p:grpSp>
        <p:nvGrpSpPr>
          <p:cNvPr id="216" name="Google Shape;216;p8"/>
          <p:cNvGrpSpPr/>
          <p:nvPr/>
        </p:nvGrpSpPr>
        <p:grpSpPr>
          <a:xfrm>
            <a:off x="-2038330" y="-2073710"/>
            <a:ext cx="5041311" cy="5041311"/>
            <a:chOff x="0" y="0"/>
            <a:chExt cx="812800" cy="812800"/>
          </a:xfrm>
        </p:grpSpPr>
        <p:sp>
          <p:nvSpPr>
            <p:cNvPr id="217" name="Google Shape;217;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19" name="Google Shape;219;p8"/>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220" name="Google Shape;220;p8"/>
          <p:cNvSpPr txBox="1"/>
          <p:nvPr/>
        </p:nvSpPr>
        <p:spPr>
          <a:xfrm>
            <a:off x="4972685" y="770890"/>
            <a:ext cx="8342630" cy="188595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Literary Review</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226" name="Google Shape;226;p8"/>
          <p:cNvSpPr txBox="1"/>
          <p:nvPr>
            <p:custDataLst>
              <p:tags r:id="rId3"/>
            </p:custDataLst>
          </p:nvPr>
        </p:nvSpPr>
        <p:spPr>
          <a:xfrm>
            <a:off x="812800" y="2967990"/>
            <a:ext cx="8484235" cy="7146290"/>
          </a:xfrm>
          <a:prstGeom prst="rect">
            <a:avLst/>
          </a:prstGeom>
          <a:noFill/>
          <a:ln>
            <a:noFill/>
          </a:ln>
        </p:spPr>
        <p:txBody>
          <a:bodyPr spcFirstLastPara="1" wrap="square" lIns="0" tIns="0" rIns="0" bIns="0" anchor="t" anchorCtr="0">
            <a:noAutofit/>
          </a:bodyPr>
          <a:lstStyle/>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Related Literature and Prior Arts</a:t>
            </a:r>
            <a:endPar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Local Prior Arts (Philippines)</a:t>
            </a:r>
            <a:endPar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 Many universities in the Philippines adopted Learning Management Systems (LMS) such as Moodle, UVLe (UP), Canvas/AnimoSpace (DLSU), and PUP Open University to support blended learning.</a:t>
            </a:r>
            <a:endPar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 These systems help manage course materials, assignments, and student progress.</a:t>
            </a:r>
            <a:endPar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 However, most platforms focus mainly on content delivery and grading, not on structured syllabus mapping or curriculum alignment.</a:t>
            </a:r>
            <a:endPar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a:p>
            <a:pPr marL="0" marR="0" lvl="0" indent="0" algn="just" rtl="0">
              <a:lnSpc>
                <a:spcPct val="140000"/>
              </a:lnSpc>
              <a:spcBef>
                <a:spcPts val="0"/>
              </a:spcBef>
              <a:spcAft>
                <a:spcPts val="0"/>
              </a:spcAft>
              <a:buNone/>
            </a:pPr>
            <a:r>
              <a:rPr lang="en-US" alt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rPr>
              <a:t>• As a result, lesson tracking and outcome alignment are often done manually by instructors.</a:t>
            </a:r>
            <a:endParaRPr lang="en-US" sz="2400" b="1" i="0" u="none" strike="noStrike" cap="none">
              <a:solidFill>
                <a:srgbClr val="000000"/>
              </a:solidFill>
              <a:latin typeface="Arial" panose="020B0604020202020204" pitchFamily="34" charset="0"/>
              <a:ea typeface="Nunito Sans"/>
              <a:cs typeface="Arial" panose="020B0604020202020204" pitchFamily="34" charset="0"/>
              <a:sym typeface="Nunito Sans"/>
            </a:endParaRPr>
          </a:p>
        </p:txBody>
      </p:sp>
      <p:sp>
        <p:nvSpPr>
          <p:cNvPr id="227" name="Google Shape;227;p8"/>
          <p:cNvSpPr txBox="1"/>
          <p:nvPr/>
        </p:nvSpPr>
        <p:spPr>
          <a:xfrm>
            <a:off x="411934" y="502681"/>
            <a:ext cx="1939500" cy="137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06</a:t>
            </a:r>
            <a:endParaRPr lang="en-US" sz="8000" b="0" i="0" u="none" strike="noStrike" cap="none">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grpSp>
        <p:nvGrpSpPr>
          <p:cNvPr id="232" name="Google Shape;232;p9"/>
          <p:cNvGrpSpPr/>
          <p:nvPr/>
        </p:nvGrpSpPr>
        <p:grpSpPr>
          <a:xfrm>
            <a:off x="0" y="-987551"/>
            <a:ext cx="18288000" cy="12262104"/>
            <a:chOff x="0" y="0"/>
            <a:chExt cx="24384000" cy="16349471"/>
          </a:xfrm>
        </p:grpSpPr>
        <p:sp>
          <p:nvSpPr>
            <p:cNvPr id="233" name="Google Shape;233;p9"/>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34" name="Google Shape;234;p9"/>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35" name="Google Shape;235;p9"/>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36" name="Google Shape;236;p9"/>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37" name="Google Shape;237;p9"/>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238" name="Google Shape;238;p9"/>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239" name="Google Shape;239;p9"/>
          <p:cNvGrpSpPr/>
          <p:nvPr/>
        </p:nvGrpSpPr>
        <p:grpSpPr>
          <a:xfrm>
            <a:off x="-2038330" y="-2073710"/>
            <a:ext cx="5041299" cy="5041299"/>
            <a:chOff x="0" y="0"/>
            <a:chExt cx="812800" cy="812800"/>
          </a:xfrm>
        </p:grpSpPr>
        <p:sp>
          <p:nvSpPr>
            <p:cNvPr id="240" name="Google Shape;240;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9"/>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42" name="Google Shape;242;p9"/>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243" name="Google Shape;243;p9"/>
          <p:cNvSpPr txBox="1"/>
          <p:nvPr/>
        </p:nvSpPr>
        <p:spPr>
          <a:xfrm>
            <a:off x="411934" y="502681"/>
            <a:ext cx="1939500" cy="137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a:t>
            </a:r>
            <a:r>
              <a:rPr lang="en-US" sz="8000" b="0" i="0" u="none" strike="noStrike" cap="none">
                <a:solidFill>
                  <a:srgbClr val="FFFFFF"/>
                </a:solidFill>
                <a:latin typeface="Nunito Sans Black"/>
                <a:ea typeface="Nunito Sans Black"/>
                <a:cs typeface="Nunito Sans Black"/>
                <a:sym typeface="Nunito Sans Black"/>
              </a:rPr>
              <a:t>7</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244" name="Google Shape;244;p9"/>
          <p:cNvSpPr txBox="1"/>
          <p:nvPr/>
        </p:nvSpPr>
        <p:spPr>
          <a:xfrm>
            <a:off x="2351405" y="941070"/>
            <a:ext cx="14554835" cy="182245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Methodology</a:t>
            </a:r>
            <a:endParaRPr lang="en-US" sz="8000" b="0" i="0" u="none" strike="noStrike" cap="none">
              <a:solidFill>
                <a:srgbClr val="0B784E"/>
              </a:solidFill>
              <a:latin typeface="Nunito Sans Black"/>
              <a:ea typeface="Nunito Sans Black"/>
              <a:cs typeface="Nunito Sans Black"/>
              <a:sym typeface="Nunito Sans Black"/>
            </a:endParaRPr>
          </a:p>
        </p:txBody>
      </p:sp>
      <p:sp>
        <p:nvSpPr>
          <p:cNvPr id="245" name="Google Shape;245;p9"/>
          <p:cNvSpPr txBox="1"/>
          <p:nvPr/>
        </p:nvSpPr>
        <p:spPr>
          <a:xfrm>
            <a:off x="1381760" y="2874645"/>
            <a:ext cx="15524480" cy="68986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endParaRPr lang="en-US" altLang="en-US" sz="2400" b="0"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The study used a descriptive-developmental approach to analyze problems, design, develop, and evaluate the proposed system.</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An Agile-based SDLC model was applied for systematic and iterative development.</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Phases include:</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Planning – Identified issues in blended learning and gathered system requirements</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Design – Developed system architecture, modules, and user interface</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Development – Implemented features through iterative sprints</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Testing – Conducted unit, integration, and user acceptance testing</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Evaluation – Assessed system effectiveness, usability, and alignment accuracy</a:t>
            </a:r>
            <a:endParaRPr lang="en-US" altLang="en-US" sz="24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2400" b="1" i="0" u="none" strike="noStrike" cap="none">
                <a:solidFill>
                  <a:srgbClr val="000000"/>
                </a:solidFill>
                <a:latin typeface="Nunito Sans"/>
                <a:ea typeface="Nunito Sans"/>
                <a:cs typeface="Nunito Sans"/>
                <a:sym typeface="Nunito Sans"/>
              </a:rPr>
              <a:t>The approach ensured continuous improvement and alignment with user needs and institutional requirements</a:t>
            </a:r>
            <a:r>
              <a:rPr lang="en-US" altLang="en-US" sz="2400" b="0" i="0" u="none" strike="noStrike" cap="none">
                <a:solidFill>
                  <a:srgbClr val="000000"/>
                </a:solidFill>
                <a:latin typeface="Nunito Sans"/>
                <a:ea typeface="Nunito Sans"/>
                <a:cs typeface="Nunito Sans"/>
                <a:sym typeface="Nunito Sans"/>
              </a:rPr>
              <a:t>.</a:t>
            </a:r>
            <a:endParaRPr lang="en-US" altLang="en-US" sz="2400" b="0" i="0" u="none" strike="noStrike" cap="none">
              <a:solidFill>
                <a:srgbClr val="000000"/>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67" name="Shape 267"/>
        <p:cNvGrpSpPr/>
        <p:nvPr/>
      </p:nvGrpSpPr>
      <p:grpSpPr>
        <a:xfrm>
          <a:off x="0" y="0"/>
          <a:ext cx="0" cy="0"/>
          <a:chOff x="0" y="0"/>
          <a:chExt cx="0" cy="0"/>
        </a:xfrm>
      </p:grpSpPr>
      <p:grpSp>
        <p:nvGrpSpPr>
          <p:cNvPr id="268" name="Google Shape;268;p11"/>
          <p:cNvGrpSpPr/>
          <p:nvPr/>
        </p:nvGrpSpPr>
        <p:grpSpPr>
          <a:xfrm>
            <a:off x="0" y="-987551"/>
            <a:ext cx="18288000" cy="12262104"/>
            <a:chOff x="0" y="0"/>
            <a:chExt cx="24384000" cy="16349471"/>
          </a:xfrm>
        </p:grpSpPr>
        <p:sp>
          <p:nvSpPr>
            <p:cNvPr id="269" name="Google Shape;269;p11"/>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70" name="Google Shape;270;p11"/>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71" name="Google Shape;271;p11"/>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72" name="Google Shape;272;p11"/>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73" name="Google Shape;273;p11"/>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274" name="Google Shape;274;p11"/>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grpSp>
        <p:nvGrpSpPr>
          <p:cNvPr id="275" name="Google Shape;275;p11"/>
          <p:cNvGrpSpPr/>
          <p:nvPr/>
        </p:nvGrpSpPr>
        <p:grpSpPr>
          <a:xfrm>
            <a:off x="-2038330" y="-2073710"/>
            <a:ext cx="5041299" cy="5041299"/>
            <a:chOff x="0" y="0"/>
            <a:chExt cx="812800" cy="812800"/>
          </a:xfrm>
        </p:grpSpPr>
        <p:sp>
          <p:nvSpPr>
            <p:cNvPr id="276" name="Google Shape;276;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1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6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78" name="Google Shape;278;p11"/>
          <p:cNvSpPr txBox="1"/>
          <p:nvPr/>
        </p:nvSpPr>
        <p:spPr>
          <a:xfrm>
            <a:off x="1381760" y="2967355"/>
            <a:ext cx="15524480" cy="674751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Methodology</a:t>
            </a:r>
            <a:r>
              <a:rPr lang="en-PH" altLang="en-US" sz="1800" b="1">
                <a:latin typeface="Nunito Sans"/>
                <a:ea typeface="Nunito Sans"/>
                <a:cs typeface="Nunito Sans"/>
                <a:sym typeface="Nunito Sans"/>
              </a:rPr>
              <a:t> </a:t>
            </a:r>
            <a:r>
              <a:rPr lang="en-US" altLang="en-US" sz="1800" b="1">
                <a:latin typeface="Nunito Sans"/>
                <a:ea typeface="Nunito Sans"/>
                <a:cs typeface="Nunito Sans"/>
                <a:sym typeface="Nunito Sans"/>
              </a:rPr>
              <a:t>Respondents</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Sampling Technique</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Convenience Sampling was used</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Respondents selected based on:</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Availability</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Active involvement in the blended learning system</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Data Gathering Methods</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Observation – Review of current teaching strategies</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Interview – Insights from faculty on experiences and challenges</a:t>
            </a:r>
            <a:endParaRPr lang="en-US" altLang="en-US" sz="1800" b="1" i="0" u="none" strike="noStrike" cap="none">
              <a:solidFill>
                <a:srgbClr val="000000"/>
              </a:solidFill>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Survey Questionnaire – Collection of quantitative data from students</a:t>
            </a:r>
            <a:endParaRPr lang="en-US" altLang="en-US" sz="1800" b="1">
              <a:latin typeface="Nunito Sans"/>
              <a:ea typeface="Nunito Sans"/>
              <a:cs typeface="Nunito Sans"/>
              <a:sym typeface="Nunito Sans"/>
            </a:endParaRPr>
          </a:p>
          <a:p>
            <a:pPr marL="0" marR="0" lvl="0" indent="0" algn="l" rtl="0">
              <a:lnSpc>
                <a:spcPct val="140000"/>
              </a:lnSpc>
              <a:spcBef>
                <a:spcPts val="0"/>
              </a:spcBef>
              <a:spcAft>
                <a:spcPts val="0"/>
              </a:spcAft>
              <a:buNone/>
            </a:pPr>
            <a:r>
              <a:rPr lang="en-US" altLang="en-US" sz="1800" b="1">
                <a:latin typeface="Nunito Sans"/>
                <a:ea typeface="Nunito Sans"/>
                <a:cs typeface="Nunito Sans"/>
                <a:sym typeface="Nunito Sans"/>
              </a:rPr>
              <a:t> and instructors</a:t>
            </a:r>
            <a:endParaRPr lang="en-PH" altLang="en-US" sz="1800" b="1" i="0" u="none" strike="noStrike" cap="none">
              <a:solidFill>
                <a:srgbClr val="000000"/>
              </a:solidFill>
              <a:latin typeface="Nunito Sans"/>
              <a:ea typeface="Nunito Sans"/>
              <a:cs typeface="Nunito Sans"/>
              <a:sym typeface="Nunito Sans"/>
            </a:endParaRPr>
          </a:p>
        </p:txBody>
      </p:sp>
      <p:sp>
        <p:nvSpPr>
          <p:cNvPr id="279" name="Google Shape;279;p11"/>
          <p:cNvSpPr/>
          <p:nvPr/>
        </p:nvSpPr>
        <p:spPr>
          <a:xfrm>
            <a:off x="15668476" y="446940"/>
            <a:ext cx="1590824" cy="1137481"/>
          </a:xfrm>
          <a:custGeom>
            <a:avLst/>
            <a:gdLst/>
            <a:ahLst/>
            <a:cxnLst/>
            <a:rect l="l" t="t" r="r" b="b"/>
            <a:pathLst>
              <a:path w="1590824" h="1137481" extrusionOk="0">
                <a:moveTo>
                  <a:pt x="0" y="0"/>
                </a:moveTo>
                <a:lnTo>
                  <a:pt x="1590824" y="0"/>
                </a:lnTo>
                <a:lnTo>
                  <a:pt x="1590824" y="1137480"/>
                </a:lnTo>
                <a:lnTo>
                  <a:pt x="0" y="1137480"/>
                </a:lnTo>
                <a:lnTo>
                  <a:pt x="0" y="0"/>
                </a:lnTo>
                <a:close/>
              </a:path>
            </a:pathLst>
          </a:custGeom>
          <a:blipFill rotWithShape="1">
            <a:blip r:embed="rId2"/>
            <a:stretch>
              <a:fillRect/>
            </a:stretch>
          </a:blipFill>
          <a:ln>
            <a:noFill/>
          </a:ln>
        </p:spPr>
      </p:sp>
      <p:sp>
        <p:nvSpPr>
          <p:cNvPr id="280" name="Google Shape;280;p11"/>
          <p:cNvSpPr txBox="1"/>
          <p:nvPr/>
        </p:nvSpPr>
        <p:spPr>
          <a:xfrm>
            <a:off x="411934" y="502681"/>
            <a:ext cx="1939500" cy="137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000" b="0" i="0" u="none" strike="noStrike" cap="none">
                <a:solidFill>
                  <a:srgbClr val="FFFFFF"/>
                </a:solidFill>
                <a:latin typeface="Nunito Sans Black"/>
                <a:ea typeface="Nunito Sans Black"/>
                <a:cs typeface="Nunito Sans Black"/>
                <a:sym typeface="Nunito Sans Black"/>
              </a:rPr>
              <a:t>09</a:t>
            </a:r>
            <a:endParaRPr lang="en-US" sz="8000" b="0" i="0" u="none" strike="noStrike" cap="none">
              <a:solidFill>
                <a:srgbClr val="FFFFFF"/>
              </a:solidFill>
              <a:latin typeface="Nunito Sans Black"/>
              <a:ea typeface="Nunito Sans Black"/>
              <a:cs typeface="Nunito Sans Black"/>
              <a:sym typeface="Nunito Sans Black"/>
            </a:endParaRPr>
          </a:p>
        </p:txBody>
      </p:sp>
      <p:sp>
        <p:nvSpPr>
          <p:cNvPr id="281" name="Google Shape;281;p11"/>
          <p:cNvSpPr txBox="1"/>
          <p:nvPr/>
        </p:nvSpPr>
        <p:spPr>
          <a:xfrm>
            <a:off x="2351405" y="690245"/>
            <a:ext cx="14554835" cy="164211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None/>
            </a:pPr>
            <a:r>
              <a:rPr lang="en-US" sz="8000" b="0" i="0" u="none" strike="noStrike" cap="none">
                <a:solidFill>
                  <a:srgbClr val="0B784E"/>
                </a:solidFill>
                <a:latin typeface="Nunito Sans Black"/>
                <a:ea typeface="Nunito Sans Black"/>
                <a:cs typeface="Nunito Sans Black"/>
                <a:sym typeface="Nunito Sans Black"/>
              </a:rPr>
              <a:t>Methodology</a:t>
            </a:r>
            <a:endParaRPr lang="en-US" sz="8000" b="0" i="0" u="none" strike="noStrike" cap="none">
              <a:solidFill>
                <a:srgbClr val="0B784E"/>
              </a:solidFill>
              <a:latin typeface="Nunito Sans Black"/>
              <a:ea typeface="Nunito Sans Black"/>
              <a:cs typeface="Nunito Sans Black"/>
              <a:sym typeface="Nunito Sans Black"/>
            </a:endParaRPr>
          </a:p>
        </p:txBody>
      </p:sp>
      <p:graphicFrame>
        <p:nvGraphicFramePr>
          <p:cNvPr id="7" name="Table 6"/>
          <p:cNvGraphicFramePr>
            <a:graphicFrameLocks noGrp="1"/>
          </p:cNvGraphicFramePr>
          <p:nvPr>
            <p:custDataLst>
              <p:tags r:id="rId3"/>
            </p:custDataLst>
          </p:nvPr>
        </p:nvGraphicFramePr>
        <p:xfrm>
          <a:off x="9587865" y="3065145"/>
          <a:ext cx="7318375" cy="3542030"/>
        </p:xfrm>
        <a:graphic>
          <a:graphicData uri="http://schemas.openxmlformats.org/drawingml/2006/table">
            <a:tbl>
              <a:tblPr/>
              <a:tblGrid>
                <a:gridCol w="4531995"/>
                <a:gridCol w="2786380"/>
              </a:tblGrid>
              <a:tr h="1336675">
                <a:tc>
                  <a:txBody>
                    <a:bodyPr/>
                    <a:lstStyle/>
                    <a:p>
                      <a:pPr marL="0" marR="0" indent="0" algn="ctr">
                        <a:lnSpc>
                          <a:spcPct val="120000"/>
                        </a:lnSpc>
                        <a:buNone/>
                      </a:pPr>
                      <a:r>
                        <a:rPr lang="en-PH" sz="1500" b="1" i="0" spc="120">
                          <a:solidFill>
                            <a:srgbClr val="000000"/>
                          </a:solidFill>
                          <a:effectLst/>
                          <a:latin typeface="Microsoft YaHei" panose="020B0503020204020204" charset="-122"/>
                          <a:ea typeface="Microsoft YaHei" panose="020B0503020204020204" charset="-122"/>
                        </a:rPr>
                        <a:t>PARTICIPANTS POPULATION</a:t>
                      </a:r>
                      <a:endParaRPr lang="en-PH" sz="15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20000"/>
                        </a:lnSpc>
                        <a:buNone/>
                      </a:pPr>
                      <a:r>
                        <a:rPr lang="en-PH" sz="1500" b="1" i="0" spc="120">
                          <a:solidFill>
                            <a:srgbClr val="000000"/>
                          </a:solidFill>
                          <a:effectLst/>
                          <a:latin typeface="Microsoft YaHei" panose="020B0503020204020204" charset="-122"/>
                          <a:ea typeface="Microsoft YaHei" panose="020B0503020204020204" charset="-122"/>
                        </a:rPr>
                        <a:t>NUMBER OF RESPONDENTS</a:t>
                      </a:r>
                      <a:endParaRPr lang="en-PH" sz="15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51815">
                <a:tc>
                  <a:txBody>
                    <a:bodyPr/>
                    <a:lstStyle/>
                    <a:p>
                      <a:pPr marL="0" marR="0" indent="0" algn="l">
                        <a:lnSpc>
                          <a:spcPct val="120000"/>
                        </a:lnSpc>
                        <a:buNone/>
                      </a:pPr>
                      <a:r>
                        <a:rPr lang="en-PH" sz="1300" b="1" spc="120">
                          <a:effectLst/>
                          <a:latin typeface="Microsoft YaHei" panose="020B0503020204020204" charset="-122"/>
                          <a:ea typeface="Microsoft YaHei" panose="020B0503020204020204" charset="-122"/>
                        </a:rPr>
                        <a:t>Administrator</a:t>
                      </a:r>
                      <a:endParaRPr lang="en-PH" sz="1300" b="1" spc="120">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20000"/>
                        </a:lnSpc>
                        <a:buNone/>
                      </a:pPr>
                      <a:r>
                        <a:rPr lang="en-PH" sz="1300" b="1" i="0" spc="120">
                          <a:solidFill>
                            <a:srgbClr val="000000"/>
                          </a:solidFill>
                          <a:effectLst/>
                          <a:latin typeface="Microsoft YaHei" panose="020B0503020204020204" charset="-122"/>
                          <a:ea typeface="Microsoft YaHei" panose="020B0503020204020204" charset="-122"/>
                        </a:rPr>
                        <a:t>1</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51815">
                <a:tc>
                  <a:txBody>
                    <a:bodyPr/>
                    <a:lstStyle/>
                    <a:p>
                      <a:pPr marL="0" marR="0" indent="0" algn="l">
                        <a:lnSpc>
                          <a:spcPct val="120000"/>
                        </a:lnSpc>
                        <a:buNone/>
                      </a:pPr>
                      <a:r>
                        <a:rPr lang="en-PH" sz="1300" b="1" i="0" spc="120" dirty="0">
                          <a:solidFill>
                            <a:srgbClr val="000000"/>
                          </a:solidFill>
                          <a:effectLst/>
                          <a:latin typeface="Microsoft YaHei" panose="020B0503020204020204" charset="-122"/>
                          <a:ea typeface="Microsoft YaHei" panose="020B0503020204020204" charset="-122"/>
                        </a:rPr>
                        <a:t>Instructors</a:t>
                      </a:r>
                      <a:endParaRPr lang="en-PH" sz="1300" b="1" i="0" spc="120" dirty="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20000"/>
                        </a:lnSpc>
                        <a:buNone/>
                      </a:pPr>
                      <a:r>
                        <a:rPr lang="en-PH" sz="1300" b="1" i="0" spc="120">
                          <a:solidFill>
                            <a:srgbClr val="000000"/>
                          </a:solidFill>
                          <a:effectLst/>
                          <a:latin typeface="Microsoft YaHei" panose="020B0503020204020204" charset="-122"/>
                          <a:ea typeface="Microsoft YaHei" panose="020B0503020204020204" charset="-122"/>
                        </a:rPr>
                        <a:t>8</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49275">
                <a:tc>
                  <a:txBody>
                    <a:bodyPr/>
                    <a:lstStyle/>
                    <a:p>
                      <a:pPr marL="0" marR="0" indent="0" algn="l">
                        <a:lnSpc>
                          <a:spcPct val="120000"/>
                        </a:lnSpc>
                        <a:buNone/>
                      </a:pPr>
                      <a:r>
                        <a:rPr lang="en-PH" sz="1300" b="1" i="0" spc="120">
                          <a:solidFill>
                            <a:srgbClr val="000000"/>
                          </a:solidFill>
                          <a:effectLst/>
                          <a:latin typeface="Microsoft YaHei" panose="020B0503020204020204" charset="-122"/>
                          <a:ea typeface="Microsoft YaHei" panose="020B0503020204020204" charset="-122"/>
                        </a:rPr>
                        <a:t>Students</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20000"/>
                        </a:lnSpc>
                        <a:buNone/>
                      </a:pPr>
                      <a:r>
                        <a:rPr lang="en-PH" sz="1300" b="1" i="0" spc="120">
                          <a:solidFill>
                            <a:srgbClr val="000000"/>
                          </a:solidFill>
                          <a:effectLst/>
                          <a:latin typeface="Microsoft YaHei" panose="020B0503020204020204" charset="-122"/>
                          <a:ea typeface="Microsoft YaHei" panose="020B0503020204020204" charset="-122"/>
                        </a:rPr>
                        <a:t>34</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52450">
                <a:tc>
                  <a:txBody>
                    <a:bodyPr/>
                    <a:lstStyle/>
                    <a:p>
                      <a:pPr marL="0" marR="0" indent="0" algn="l">
                        <a:lnSpc>
                          <a:spcPct val="120000"/>
                        </a:lnSpc>
                        <a:buNone/>
                      </a:pPr>
                      <a:r>
                        <a:rPr lang="en-PH" sz="1300" b="1" i="0" spc="120">
                          <a:solidFill>
                            <a:srgbClr val="000000"/>
                          </a:solidFill>
                          <a:effectLst/>
                          <a:latin typeface="Microsoft YaHei" panose="020B0503020204020204" charset="-122"/>
                          <a:ea typeface="Microsoft YaHei" panose="020B0503020204020204" charset="-122"/>
                        </a:rPr>
                        <a:t>Total</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a:lnSpc>
                          <a:spcPct val="120000"/>
                        </a:lnSpc>
                        <a:buNone/>
                      </a:pPr>
                      <a:r>
                        <a:rPr lang="en-PH" sz="1300" b="1" i="0" spc="120">
                          <a:solidFill>
                            <a:srgbClr val="000000"/>
                          </a:solidFill>
                          <a:effectLst/>
                          <a:latin typeface="Microsoft YaHei" panose="020B0503020204020204" charset="-122"/>
                          <a:ea typeface="Microsoft YaHei" panose="020B0503020204020204" charset="-122"/>
                        </a:rPr>
                        <a:t>43</a:t>
                      </a:r>
                      <a:endParaRPr lang="en-PH" sz="1300" b="1" i="0" spc="120">
                        <a:solidFill>
                          <a:srgbClr val="000000"/>
                        </a:solidFill>
                        <a:effectLst/>
                        <a:latin typeface="Microsoft YaHei" panose="020B0503020204020204" charset="-122"/>
                        <a:ea typeface="Microsoft YaHei" panose="020B0503020204020204" charset="-122"/>
                      </a:endParaRPr>
                    </a:p>
                  </a:txBody>
                  <a:tcPr marL="25400" marR="25400" marT="6350" marB="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grpSp>
        <p:nvGrpSpPr>
          <p:cNvPr id="286" name="Google Shape;286;p12"/>
          <p:cNvGrpSpPr/>
          <p:nvPr/>
        </p:nvGrpSpPr>
        <p:grpSpPr>
          <a:xfrm>
            <a:off x="0" y="-987551"/>
            <a:ext cx="18288000" cy="12262104"/>
            <a:chOff x="0" y="0"/>
            <a:chExt cx="24384000" cy="16349471"/>
          </a:xfrm>
        </p:grpSpPr>
        <p:sp>
          <p:nvSpPr>
            <p:cNvPr id="287" name="Google Shape;287;p12"/>
            <p:cNvSpPr/>
            <p:nvPr/>
          </p:nvSpPr>
          <p:spPr>
            <a:xfrm>
              <a:off x="0"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88" name="Google Shape;288;p12"/>
            <p:cNvSpPr/>
            <p:nvPr/>
          </p:nvSpPr>
          <p:spPr>
            <a:xfrm>
              <a:off x="0"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89" name="Google Shape;289;p12"/>
            <p:cNvSpPr/>
            <p:nvPr/>
          </p:nvSpPr>
          <p:spPr>
            <a:xfrm>
              <a:off x="8107869" y="0"/>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90" name="Google Shape;290;p12"/>
            <p:cNvSpPr/>
            <p:nvPr/>
          </p:nvSpPr>
          <p:spPr>
            <a:xfrm>
              <a:off x="8107869" y="8103568"/>
              <a:ext cx="8198458" cy="8198458"/>
            </a:xfrm>
            <a:custGeom>
              <a:avLst/>
              <a:gdLst/>
              <a:ahLst/>
              <a:cxnLst/>
              <a:rect l="l" t="t" r="r" b="b"/>
              <a:pathLst>
                <a:path w="8198458" h="8198458" extrusionOk="0">
                  <a:moveTo>
                    <a:pt x="0" y="0"/>
                  </a:moveTo>
                  <a:lnTo>
                    <a:pt x="8198458" y="0"/>
                  </a:lnTo>
                  <a:lnTo>
                    <a:pt x="8198458" y="8198458"/>
                  </a:lnTo>
                  <a:lnTo>
                    <a:pt x="0" y="8198458"/>
                  </a:lnTo>
                  <a:lnTo>
                    <a:pt x="0" y="0"/>
                  </a:lnTo>
                  <a:close/>
                </a:path>
              </a:pathLst>
            </a:custGeom>
            <a:blipFill rotWithShape="1">
              <a:blip r:embed="rId1">
                <a:alphaModFix amt="50000"/>
              </a:blip>
              <a:stretch>
                <a:fillRect/>
              </a:stretch>
            </a:blipFill>
            <a:ln>
              <a:noFill/>
            </a:ln>
          </p:spPr>
        </p:sp>
        <p:sp>
          <p:nvSpPr>
            <p:cNvPr id="291" name="Google Shape;291;p12"/>
            <p:cNvSpPr/>
            <p:nvPr/>
          </p:nvSpPr>
          <p:spPr>
            <a:xfrm>
              <a:off x="16185542" y="47445"/>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sp>
          <p:nvSpPr>
            <p:cNvPr id="292" name="Google Shape;292;p12"/>
            <p:cNvSpPr/>
            <p:nvPr/>
          </p:nvSpPr>
          <p:spPr>
            <a:xfrm>
              <a:off x="16185542" y="8151013"/>
              <a:ext cx="8198458" cy="8198458"/>
            </a:xfrm>
            <a:custGeom>
              <a:avLst/>
              <a:gdLst/>
              <a:ahLst/>
              <a:cxnLst/>
              <a:rect l="l" t="t" r="r" b="b"/>
              <a:pathLst>
                <a:path w="8198458" h="8198458" extrusionOk="0">
                  <a:moveTo>
                    <a:pt x="0" y="0"/>
                  </a:moveTo>
                  <a:lnTo>
                    <a:pt x="8198458" y="0"/>
                  </a:lnTo>
                  <a:lnTo>
                    <a:pt x="8198458" y="8198457"/>
                  </a:lnTo>
                  <a:lnTo>
                    <a:pt x="0" y="8198457"/>
                  </a:lnTo>
                  <a:lnTo>
                    <a:pt x="0" y="0"/>
                  </a:lnTo>
                  <a:close/>
                </a:path>
              </a:pathLst>
            </a:custGeom>
            <a:blipFill rotWithShape="1">
              <a:blip r:embed="rId1">
                <a:alphaModFix amt="50000"/>
              </a:blip>
              <a:stretch>
                <a:fillRect/>
              </a:stretch>
            </a:blipFill>
            <a:ln>
              <a:noFill/>
            </a:ln>
          </p:spPr>
        </p:sp>
      </p:grpSp>
      <p:sp>
        <p:nvSpPr>
          <p:cNvPr id="293" name="Google Shape;293;p12"/>
          <p:cNvSpPr txBox="1"/>
          <p:nvPr/>
        </p:nvSpPr>
        <p:spPr>
          <a:xfrm>
            <a:off x="2586980" y="3630613"/>
            <a:ext cx="13114040" cy="2139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2500" b="0" i="0" u="none" strike="noStrike" cap="none">
                <a:solidFill>
                  <a:srgbClr val="0B784E"/>
                </a:solidFill>
                <a:latin typeface="Nunito Sans Black"/>
                <a:ea typeface="Nunito Sans Black"/>
                <a:cs typeface="Nunito Sans Black"/>
                <a:sym typeface="Nunito Sans Black"/>
              </a:rPr>
              <a:t>Thank You</a:t>
            </a:r>
            <a:endParaRPr lang="en-US" sz="12500" b="0" i="0" u="none" strike="noStrike" cap="none">
              <a:solidFill>
                <a:srgbClr val="0B784E"/>
              </a:solidFill>
              <a:latin typeface="Nunito Sans Black"/>
              <a:ea typeface="Nunito Sans Black"/>
              <a:cs typeface="Nunito Sans Black"/>
              <a:sym typeface="Nunito Sans Black"/>
            </a:endParaRPr>
          </a:p>
        </p:txBody>
      </p:sp>
      <p:sp>
        <p:nvSpPr>
          <p:cNvPr id="294" name="Google Shape;294;p12"/>
          <p:cNvSpPr/>
          <p:nvPr/>
        </p:nvSpPr>
        <p:spPr>
          <a:xfrm flipH="1">
            <a:off x="0" y="8618398"/>
            <a:ext cx="5173960" cy="1668602"/>
          </a:xfrm>
          <a:custGeom>
            <a:avLst/>
            <a:gdLst/>
            <a:ahLst/>
            <a:cxnLst/>
            <a:rect l="l" t="t" r="r" b="b"/>
            <a:pathLst>
              <a:path w="5173960" h="1668602" extrusionOk="0">
                <a:moveTo>
                  <a:pt x="5173960" y="0"/>
                </a:moveTo>
                <a:lnTo>
                  <a:pt x="0" y="0"/>
                </a:lnTo>
                <a:lnTo>
                  <a:pt x="0" y="1668602"/>
                </a:lnTo>
                <a:lnTo>
                  <a:pt x="5173960" y="1668602"/>
                </a:lnTo>
                <a:lnTo>
                  <a:pt x="5173960" y="0"/>
                </a:lnTo>
                <a:close/>
              </a:path>
            </a:pathLst>
          </a:custGeom>
          <a:blipFill rotWithShape="1">
            <a:blip r:embed="rId2"/>
            <a:stretch>
              <a:fillRect/>
            </a:stretch>
          </a:blipFill>
          <a:ln>
            <a:noFill/>
          </a:ln>
        </p:spPr>
      </p:sp>
      <p:sp>
        <p:nvSpPr>
          <p:cNvPr id="295" name="Google Shape;295;p12"/>
          <p:cNvSpPr/>
          <p:nvPr/>
        </p:nvSpPr>
        <p:spPr>
          <a:xfrm rot="10800000" flipH="1">
            <a:off x="13114040" y="0"/>
            <a:ext cx="5173960" cy="1668602"/>
          </a:xfrm>
          <a:custGeom>
            <a:avLst/>
            <a:gdLst/>
            <a:ahLst/>
            <a:cxnLst/>
            <a:rect l="l" t="t" r="r" b="b"/>
            <a:pathLst>
              <a:path w="5173960" h="1668602" extrusionOk="0">
                <a:moveTo>
                  <a:pt x="0" y="1668602"/>
                </a:moveTo>
                <a:lnTo>
                  <a:pt x="5173960" y="1668602"/>
                </a:lnTo>
                <a:lnTo>
                  <a:pt x="5173960" y="0"/>
                </a:lnTo>
                <a:lnTo>
                  <a:pt x="0" y="0"/>
                </a:lnTo>
                <a:lnTo>
                  <a:pt x="0" y="1668602"/>
                </a:lnTo>
                <a:close/>
              </a:path>
            </a:pathLst>
          </a:custGeom>
          <a:blipFill rotWithShape="1">
            <a:blip r:embed="rId2"/>
            <a:stretch>
              <a:fillRect/>
            </a:stretch>
          </a:blipFill>
          <a:ln>
            <a:noFill/>
          </a:ln>
        </p:spPr>
      </p:sp>
      <p:sp>
        <p:nvSpPr>
          <p:cNvPr id="296" name="Google Shape;296;p12"/>
          <p:cNvSpPr/>
          <p:nvPr/>
        </p:nvSpPr>
        <p:spPr>
          <a:xfrm>
            <a:off x="8348588" y="1099862"/>
            <a:ext cx="1590824" cy="1137481"/>
          </a:xfrm>
          <a:custGeom>
            <a:avLst/>
            <a:gdLst/>
            <a:ahLst/>
            <a:cxnLst/>
            <a:rect l="l" t="t" r="r" b="b"/>
            <a:pathLst>
              <a:path w="1590824" h="1137481" extrusionOk="0">
                <a:moveTo>
                  <a:pt x="0" y="0"/>
                </a:moveTo>
                <a:lnTo>
                  <a:pt x="1590824" y="0"/>
                </a:lnTo>
                <a:lnTo>
                  <a:pt x="1590824" y="1137481"/>
                </a:lnTo>
                <a:lnTo>
                  <a:pt x="0" y="1137481"/>
                </a:lnTo>
                <a:lnTo>
                  <a:pt x="0" y="0"/>
                </a:lnTo>
                <a:close/>
              </a:path>
            </a:pathLst>
          </a:custGeom>
          <a:blipFill rotWithShape="1">
            <a:blip r:embed="rId3"/>
            <a:stretch>
              <a:fillRect/>
            </a:stretch>
          </a:blipFill>
          <a:ln>
            <a:noFill/>
          </a:ln>
        </p:spPr>
      </p:sp>
      <p:sp>
        <p:nvSpPr>
          <p:cNvPr id="297" name="Google Shape;297;p12"/>
          <p:cNvSpPr txBox="1"/>
          <p:nvPr/>
        </p:nvSpPr>
        <p:spPr>
          <a:xfrm>
            <a:off x="4082669" y="6008687"/>
            <a:ext cx="10122662" cy="96901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lang="en-US" sz="4500" b="0" i="0" u="none" strike="noStrike" cap="none">
              <a:solidFill>
                <a:srgbClr val="000000"/>
              </a:solidFill>
              <a:latin typeface="Nunito Sans"/>
              <a:ea typeface="Nunito Sans"/>
              <a:cs typeface="Nunito Sans"/>
              <a:sym typeface="Nunito Sans"/>
            </a:endParaRPr>
          </a:p>
        </p:txBody>
      </p:sp>
      <p:sp>
        <p:nvSpPr>
          <p:cNvPr id="298" name="Google Shape;298;p12"/>
          <p:cNvSpPr txBox="1"/>
          <p:nvPr/>
        </p:nvSpPr>
        <p:spPr>
          <a:xfrm>
            <a:off x="5173960" y="2782886"/>
            <a:ext cx="7940079" cy="76200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000000"/>
                </a:solidFill>
                <a:latin typeface="Nunito Sans"/>
                <a:ea typeface="Nunito Sans"/>
                <a:cs typeface="Nunito Sans"/>
                <a:sym typeface="Nunito Sans"/>
              </a:rPr>
              <a:t>I-Tech College Bago City, Inc</a:t>
            </a:r>
            <a:endParaRPr lang="en-US" sz="4500" b="1" i="0" u="none" strike="noStrike" cap="none">
              <a:solidFill>
                <a:srgbClr val="000000"/>
              </a:solidFill>
              <a:latin typeface="Nunito Sans"/>
              <a:ea typeface="Nunito Sans"/>
              <a:cs typeface="Nunito Sans"/>
              <a:sym typeface="Nunito Sans"/>
            </a:endParaRPr>
          </a:p>
        </p:txBody>
      </p:sp>
    </p:spTree>
  </p:cSld>
  <p:clrMapOvr>
    <a:masterClrMapping/>
  </p:clrMapOvr>
</p:sld>
</file>

<file path=ppt/tags/tag1.xml><?xml version="1.0" encoding="utf-8"?>
<p:tagLst xmlns:p="http://schemas.openxmlformats.org/presentationml/2006/main">
  <p:tag name="KSO_WM_DIAGRAM_VIRTUALLY_FRAME" val="{&quot;height&quot;:442.39559055118104,&quot;left&quot;:81,&quot;top&quot;:284.77937007874016,&quot;width&quot;:1240.8946456692913}"/>
</p:tagLst>
</file>

<file path=ppt/tags/tag2.xml><?xml version="1.0" encoding="utf-8"?>
<p:tagLst xmlns:p="http://schemas.openxmlformats.org/presentationml/2006/main">
  <p:tag name="TABLE_ENDDRAG_ORIGIN_RECT" val="576*271"/>
  <p:tag name="TABLE_ENDDRAG_RECT" val="827*233*576*271"/>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5518</Words>
  <Application>WPS Presentation</Application>
  <PresentationFormat/>
  <Paragraphs>139</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Arial</vt:lpstr>
      <vt:lpstr>Calibri</vt:lpstr>
      <vt:lpstr>Nunito Sans Black</vt:lpstr>
      <vt:lpstr>Nunito Sans</vt:lpstr>
      <vt:lpstr>NSimSun</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Marisa Mae Cordero Belanio</cp:lastModifiedBy>
  <cp:revision>7</cp:revision>
  <dcterms:created xsi:type="dcterms:W3CDTF">2026-03-23T12:34:00Z</dcterms:created>
  <dcterms:modified xsi:type="dcterms:W3CDTF">2026-03-27T11:26:36Z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B9441827EF8646D6853C65B8CAA604E2_13</vt:lpwstr>
  </property>
  <property fmtid="{D5CDD505-2E9C-101B-9397-08002B2CF9AE}" pid="3" name="KSOProductBuildVer">
    <vt:lpwstr>1033-12.2.0.23155</vt:lpwstr>
  </property>
</Properties>
</file>